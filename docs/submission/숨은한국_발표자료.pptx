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B4B2A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72A2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4B2A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4B2A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4B2A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28C6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전역평균</c:v>
                  </c:pt>
                  <c:pt idx="1">
                    <c:v>지역평균</c:v>
                  </c:pt>
                  <c:pt idx="2">
                    <c:v>지역×카테고리평균</c:v>
                  </c:pt>
                  <c:pt idx="3">
                    <c:v>HK 갭모델 (AI)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19.25</c:v>
                </c:pt>
                <c:pt idx="1">
                  <c:v>18.68</c:v>
                </c:pt>
                <c:pt idx="2">
                  <c:v>17.62</c:v>
                </c:pt>
                <c:pt idx="3">
                  <c:v>15.05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72A2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72A2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인사 후 한 줄 정의로 시작: '방문 예정일의 관광지 혼잡을 AI로 예측하고, 취향은 유지하되 붐빔만 제거한 대안·일정을 추천하는 서비스입니다.' 지정과제 2번(오버투어리즘)에 정면으로 대응하며, 지금 이 URL로 어디서든 접속 가능하다는 점을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핵심은 '수요를 없애는 게 아니라 옮긴다'. 3중 손실을 짚고, 여행자가 정보가 없어서 못 옮긴다는 점을 문제의 본질로 제시. 이게 뒤에 나올 예측+대안 추천의 당위성.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독창성 문장을 그대로 읽어라(심사 기획력 포인트). 그리고 예측→대안→재구성의 3단계로 서비스 전체가 하나의 논리로 꿰어짐을 설명. 이 3단계가 뒤 기능 슬라이드의 뼈대.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지정과제 참고자료의 해시태그 4종을 우리가 각각 '작동하는 기능'으로 만들었다고 1:1 매핑(구현성 만점 전략). 데모는 이 URL에서 라이브로 보여줄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차별화는 오른쪽. 공사 API는 7,445곳만 커버 → 광주·세종 등은 예보가 없음. 우리는 그 빈 곳을 자체 AI로 메워 '전국 어디나 30일 예보'를 만든다. 배지로 두 출처를 투명하게 구분한다는 점이 신뢰성 포인트.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'혼잡을 무슨 근거로 말하냐'는 질문의 정면 답변 슬라이드. 1계층=공사 실측 예측, 2계층=그걸로 학습한 AI가 빈 곳을 요일·공휴일·D+n 같은 실제 혼잡 리듬으로 추정. 다음 장에서 이 AI가 단순평균보다 정확함을 수치로 증명한다고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예상질문 1순위 '예측이 맞느냐'의 답. 회색=통계 베이스라인, 초록=우리 AI. (1)미래 데이터로 검증했고 (2)가장 강한 베이스라인보다 오차 15% 낮고 (3)사용자가 보는 등급 기준 ±1 이내 86% 정확. 재현 스크립트도 레포에 있다고 덧붙여라. 한계도 리포트에 정직히 명시.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대안이 '아무 데나'가 아니라 근거가 있다는 걸 강조. 특히 3번 자기조절이 분산 목적과 직결 — 추천 자체가 혼잡 데이터 기반이라 '숨은 명소가 알려져 붐비면 추천에서 빠지는' 자기 피드백 구조(예상질문 5번 답).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지정과제가 원하는 '지역 간 분산'을 정면으로 겨냥한 기능. 단순히 근처 대안이 아니라 전국 단위로 취향 비슷+더 한적한 다른 지역을 제안해, 저평가 지역 활성화라는 정책 효과까지 노린다.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가이드처럼 '그 시간에 뭘 하는지'까지 짜준다는 게 차별점. 각 슬롯은 그날 덜 붐비는 곳을 고르므로 분산 목적이 일정에도 반영. 거리 기반 동선·날씨·다중선택은 실사용 완성도를 보여주는 디테일.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데이터활용 20점 항목. 공사 API 4개 오퍼레이션이 각각 어디에 쓰이는지 1:1로 증빙하고, '없으면 서비스 성립 불가'라는 핵심경로성을 강조. 마지막 줄의 'AI로 확장'이 가점 요소.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구현성·발전성 근거. 프론트-백-데이터 3계층에 3개 엔진. 학부생 팀이지만 테스트 통과+실배포까지 갖춘 '진짜 도는 서비스'임을 강조. 데이터 파이프라인이 소스 추가에 열려 있어 확장 용이.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심사 관점에서 우리 위치를 정직하게 정리. 구현성·기획력·데이터활용은 강점(특히 실배포+정확도검증). 발전성은 로드맵 중심이라 '보통'으로 두되 성장 여지로 프레이밍. 이 표로 심사위원의 채점을 우리가 먼저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마무리는 비전 한 줄('수요를 옮긴다')로 각인. 로드맵으로 발전성을 남기고, 마지막에 URL로 '지금 심사위원이 직접 써보라'는 자신감으로 끝낸다.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5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2377440" cy="457200"/>
          </a:xfrm>
          <a:prstGeom prst="roundRect">
            <a:avLst>
              <a:gd name="adj" fmla="val 20000"/>
            </a:avLst>
          </a:prstGeom>
          <a:solidFill>
            <a:srgbClr val="0B4A3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관광데이터 활용 공모전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숨은한국</a:t>
            </a:r>
            <a:endParaRPr lang="en-US" sz="7000" dirty="0"/>
          </a:p>
        </p:txBody>
      </p:sp>
      <p:sp>
        <p:nvSpPr>
          <p:cNvPr id="5" name="Text 3"/>
          <p:cNvSpPr/>
          <p:nvPr/>
        </p:nvSpPr>
        <p:spPr>
          <a:xfrm>
            <a:off x="685800" y="3246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FD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HiddenKorea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39776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붐비는 곳 말고, 숨은 한국 — 혼잡을 예측하고 취향은 유지한 채 한적한 대안을 추천하는 오버투어리즘 분산 서비스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" y="5029200"/>
            <a:ext cx="5029200" cy="0"/>
          </a:xfrm>
          <a:prstGeom prst="line">
            <a:avLst/>
          </a:prstGeom>
          <a:noFill/>
          <a:ln w="25400">
            <a:solidFill>
              <a:srgbClr val="E091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52120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D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웹·앱 구현 부문 · 지정과제 2번(관광객 쏠림 분산)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E0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접속: hiddenkorea.vercel.app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2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— 문제 정의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특정 명소로의 쏠림이 만드는 3중 손실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F3F6F5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148840"/>
            <a:ext cx="640080" cy="640080"/>
          </a:xfrm>
          <a:prstGeom prst="ellipse">
            <a:avLst/>
          </a:prstGeom>
          <a:solidFill>
            <a:srgbClr val="128C6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9260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방문객 경험 저하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3832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대기·인파로 만족도 하락, 재방문 감소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F3F6F5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148840"/>
            <a:ext cx="640080" cy="640080"/>
          </a:xfrm>
          <a:prstGeom prst="ellipse">
            <a:avLst/>
          </a:prstGeom>
          <a:solidFill>
            <a:srgbClr val="128C6A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0" y="29260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지역 주민 피해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0" y="33832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생활권 혼잡·소음, 관광 수용력 초과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F3F6F5"/>
          </a:solidFill>
          <a:ln/>
        </p:spPr>
      </p:sp>
      <p:sp>
        <p:nvSpPr>
          <p:cNvPr id="15" name="Shape 13"/>
          <p:cNvSpPr/>
          <p:nvPr/>
        </p:nvSpPr>
        <p:spPr>
          <a:xfrm>
            <a:off x="8366760" y="2148840"/>
            <a:ext cx="640080" cy="640080"/>
          </a:xfrm>
          <a:prstGeom prst="ellipse">
            <a:avLst/>
          </a:prstGeom>
          <a:solidFill>
            <a:srgbClr val="128C6A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75320" y="29260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저평가 지역 기회 상실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75320" y="33832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바로 옆 한적한 명소는 방문객이 없음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526280"/>
            <a:ext cx="10927080" cy="1554480"/>
          </a:xfrm>
          <a:prstGeom prst="roundRect">
            <a:avLst>
              <a:gd name="adj" fmla="val 4706"/>
            </a:avLst>
          </a:prstGeom>
          <a:solidFill>
            <a:srgbClr val="E1F5EE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709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여행자의 진짜 어려움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507492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i="1" dirty="0">
                <a:solidFill>
                  <a:srgbClr val="17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“덜 붐비는 곳에 가고 싶지만 — 언제 어디가 붐비는지, 그 대신 어디를 가야 할지 알 방법이 없다”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2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— 해결 아이디어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취향은 유지, 혼잡만 제거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927080" cy="1371600"/>
          </a:xfrm>
          <a:prstGeom prst="roundRect">
            <a:avLst>
              <a:gd name="adj" fmla="val 5333"/>
            </a:avLst>
          </a:prstGeom>
          <a:solidFill>
            <a:srgbClr val="0E5A47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87452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“혼잡을 피하라고만 하는 서비스는 있지만, 취향을 유지한 채 혼잡만 제거한 대안을 근거와 함께 주는 서비스는 없습니다”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361188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3F6F5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3886200"/>
            <a:ext cx="594360" cy="594360"/>
          </a:xfrm>
          <a:prstGeom prst="ellipse">
            <a:avLst/>
          </a:prstGeom>
          <a:solidFill>
            <a:srgbClr val="128C6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886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91640" y="3913632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46634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방문 예정일의 혼잡을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AI로 미리 계산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023360" y="4480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343400" y="361188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3F6F5"/>
          </a:solidFill>
          <a:ln/>
        </p:spPr>
      </p:sp>
      <p:sp>
        <p:nvSpPr>
          <p:cNvPr id="13" name="Shape 11"/>
          <p:cNvSpPr/>
          <p:nvPr/>
        </p:nvSpPr>
        <p:spPr>
          <a:xfrm>
            <a:off x="4617720" y="3886200"/>
            <a:ext cx="594360" cy="594360"/>
          </a:xfrm>
          <a:prstGeom prst="ellipse">
            <a:avLst/>
          </a:prstGeom>
          <a:solidFill>
            <a:srgbClr val="128C6A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3886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394960" y="3913632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대안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17720" y="46634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매력·더 한적한 곳을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근거와 함께 추천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26680" y="4480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8046720" y="361188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3F6F5"/>
          </a:solidFill>
          <a:ln/>
        </p:spPr>
      </p:sp>
      <p:sp>
        <p:nvSpPr>
          <p:cNvPr id="19" name="Shape 17"/>
          <p:cNvSpPr/>
          <p:nvPr/>
        </p:nvSpPr>
        <p:spPr>
          <a:xfrm>
            <a:off x="8321040" y="3886200"/>
            <a:ext cx="594360" cy="594360"/>
          </a:xfrm>
          <a:prstGeom prst="ellipse">
            <a:avLst/>
          </a:prstGeom>
          <a:solidFill>
            <a:srgbClr val="128C6A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0" y="3886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098280" y="3913632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재구성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321040" y="46634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한적한 곳들로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코스·일정까지 완성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2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— 서비스 한눈에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지정과제 해시태그 = 실제 동작 기능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3F6F5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02996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#혼잡도 분석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51460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하이브리드 혼잡 예측 + 30일 달력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3F6F5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202996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#과밀지역 우회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51460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붐빔 감지 시 한적한 대안 추천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4290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3F6F5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63016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#숨은 명소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411480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분류+임베딩 유사 매칭 · 타지역 분산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34290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3F6F5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363016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#코스 추천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92240" y="411480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거리 기반 코스 + 가이드북형 일정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5212080"/>
            <a:ext cx="10927080" cy="91440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21208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없이 즉시 사용 · 반응형 웹(모바일 우선) · 실제 배포 완료  </a:t>
            </a:r>
            <a:pPr indent="0" marL="0">
              <a:buNone/>
            </a:pPr>
            <a:r>
              <a:rPr lang="en-US" sz="1600" b="1" dirty="0">
                <a:solidFill>
                  <a:srgbClr val="12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hiddenkorea.vercel.app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2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1 · #혼잡도 분석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하이브리드 혼잡 예측 엔진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F3F6F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관광지·날짜를 넣으면 그날의 혼잡 지수(0~100)와 5등급, 향후 30일 혼잡 달력을 제공.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429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플로우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379476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7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 → 관광지 선택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7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혼잡 지수·등급 + 30일 히트맵 달력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7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날짜 클릭 시 즉시 재계산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7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 배지로 예측임을 투명 고지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0E5A47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20574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차별화 — 공사 데이터를 AI로 전국 확장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46520" y="2697480"/>
            <a:ext cx="4846320" cy="1417320"/>
          </a:xfrm>
          <a:prstGeom prst="roundRect">
            <a:avLst>
              <a:gd name="adj" fmla="val 5161"/>
            </a:avLst>
          </a:prstGeom>
          <a:solidFill>
            <a:srgbClr val="0B4A3A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283464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7FD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커버 관광지 7,445곳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한국관광공사 집중률 예측 API 값 직접 사용  · 배지: 공사 예측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46520" y="4251960"/>
            <a:ext cx="4846320" cy="1554480"/>
          </a:xfrm>
          <a:prstGeom prst="roundRect">
            <a:avLst>
              <a:gd name="adj" fmla="val 4706"/>
            </a:avLst>
          </a:prstGeom>
          <a:solidFill>
            <a:srgbClr val="0B4A3A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미커버 관광지 (전국 전역)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자체 LightGBM 모델이 지역·카테고리·달력으로 혼잡 근사  · 배지: 숨은한국 AI 추정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2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 · 혼잡도는 어떻게 계산되나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2계층 하이브리드 + 달력 피처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927080" cy="1737360"/>
          </a:xfrm>
          <a:prstGeom prst="roundRect">
            <a:avLst>
              <a:gd name="adj" fmla="val 4211"/>
            </a:avLst>
          </a:prstGeom>
          <a:solidFill>
            <a:srgbClr val="F3F6F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57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1계층 — 실제 데이터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한국관광공사 ‘집중률 방문자 추이 예측’ API의 예측 수치를 그대로 사용. 신뢰도 최우선 구간.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2계층 — AI 근사(커버리지 밖)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공사 데이터로 학습한 LightGBM 회귀가, 데이터 없는 관광지의 혼잡을 아래 피처로 추정.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88620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E1F5E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8862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지역(시도)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212848" y="388620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E1F5EE"/>
          </a:solidFill>
          <a:ln/>
        </p:spPr>
      </p:sp>
      <p:sp>
        <p:nvSpPr>
          <p:cNvPr id="12" name="Text 10"/>
          <p:cNvSpPr/>
          <p:nvPr/>
        </p:nvSpPr>
        <p:spPr>
          <a:xfrm>
            <a:off x="2212848" y="38862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카테고리(대·중분류)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785616" y="388620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E1F5EE"/>
          </a:solidFill>
          <a:ln/>
        </p:spPr>
      </p:sp>
      <p:sp>
        <p:nvSpPr>
          <p:cNvPr id="14" name="Text 12"/>
          <p:cNvSpPr/>
          <p:nvPr/>
        </p:nvSpPr>
        <p:spPr>
          <a:xfrm>
            <a:off x="3785616" y="38862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요일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358384" y="388620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E1F5EE"/>
          </a:solidFill>
          <a:ln/>
        </p:spPr>
      </p:sp>
      <p:sp>
        <p:nvSpPr>
          <p:cNvPr id="16" name="Text 14"/>
          <p:cNvSpPr/>
          <p:nvPr/>
        </p:nvSpPr>
        <p:spPr>
          <a:xfrm>
            <a:off x="5358384" y="38862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주말 여부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931152" y="388620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E1F5EE"/>
          </a:solidFill>
          <a:ln/>
        </p:spPr>
      </p:sp>
      <p:sp>
        <p:nvSpPr>
          <p:cNvPr id="18" name="Text 16"/>
          <p:cNvSpPr/>
          <p:nvPr/>
        </p:nvSpPr>
        <p:spPr>
          <a:xfrm>
            <a:off x="6931152" y="38862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공휴일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503920" y="388620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E1F5EE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38862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D+n(며칠 뒤)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0076688" y="388620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E1F5EE"/>
          </a:solidFill>
          <a:ln/>
        </p:spPr>
      </p:sp>
      <p:sp>
        <p:nvSpPr>
          <p:cNvPr id="22" name="Text 20"/>
          <p:cNvSpPr/>
          <p:nvPr/>
        </p:nvSpPr>
        <p:spPr>
          <a:xfrm>
            <a:off x="10076688" y="38862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4663440"/>
            <a:ext cx="10927080" cy="1417320"/>
          </a:xfrm>
          <a:prstGeom prst="roundRect">
            <a:avLst>
              <a:gd name="adj" fmla="val 5161"/>
            </a:avLst>
          </a:prstGeom>
          <a:solidFill>
            <a:srgbClr val="0E5A47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8280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이 방식인가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400" y="516636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A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데이터가 있으면 그대로 쓰고, 없는 곳만 AI로 채운다 — 정확성과 커버리지를 동시에 확보. 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A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'요일·연휴·며칠 뒤'라는 혼잡의 실제 리듬을 학습하므로 단순 평균보다 정확(다음 장 검증).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2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· 정확도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추정이 공사 실측을 얼마나 재현하나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모델별 평균절대오차 MAE (낮을수록 정확) · 홀드아웃 31,850행(모델이 못 본 미래 5일)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65960"/>
          <a:ext cx="68580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680960" y="2011680"/>
            <a:ext cx="3886200" cy="1234440"/>
          </a:xfrm>
          <a:prstGeom prst="roundRect">
            <a:avLst>
              <a:gd name="adj" fmla="val 5926"/>
            </a:avLst>
          </a:prstGeom>
          <a:solidFill>
            <a:srgbClr val="F3F6F5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0" y="2103120"/>
            <a:ext cx="1554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28C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418320" y="210312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평균 대비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오차 감소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680960" y="3383280"/>
            <a:ext cx="3886200" cy="1234440"/>
          </a:xfrm>
          <a:prstGeom prst="roundRect">
            <a:avLst>
              <a:gd name="adj" fmla="val 5926"/>
            </a:avLst>
          </a:prstGeom>
          <a:solidFill>
            <a:srgbClr val="F3F6F5"/>
          </a:solidFill>
          <a:ln/>
        </p:spPr>
      </p:sp>
      <p:sp>
        <p:nvSpPr>
          <p:cNvPr id="10" name="Text 7"/>
          <p:cNvSpPr/>
          <p:nvPr/>
        </p:nvSpPr>
        <p:spPr>
          <a:xfrm>
            <a:off x="7863840" y="3474720"/>
            <a:ext cx="1554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9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86%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9418320" y="347472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혼잡 등급 ±1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이내 정확도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680960" y="4754880"/>
            <a:ext cx="3886200" cy="1234440"/>
          </a:xfrm>
          <a:prstGeom prst="roundRect">
            <a:avLst>
              <a:gd name="adj" fmla="val 5926"/>
            </a:avLst>
          </a:prstGeom>
          <a:solidFill>
            <a:srgbClr val="F3F6F5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0" y="4846320"/>
            <a:ext cx="1554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5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0.56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9418320" y="484632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순위상관(Spearman)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한산함 판별력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2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2 · #과밀지역 우회 #숨은 명소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대안 매칭 — 비슷하지만 한적한 곳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927080" cy="914400"/>
          </a:xfrm>
          <a:prstGeom prst="roundRect">
            <a:avLst>
              <a:gd name="adj" fmla="val 8000"/>
            </a:avLst>
          </a:prstGeom>
          <a:solidFill>
            <a:srgbClr val="F3F6F5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57400"/>
            <a:ext cx="548640" cy="548640"/>
          </a:xfrm>
          <a:prstGeom prst="ellipse">
            <a:avLst/>
          </a:prstGeom>
          <a:solidFill>
            <a:srgbClr val="128C6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19202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후보 생성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97680" y="1920240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분류체계(lclsSystm) 중분류로 ‘같은 종류’ 보장 (경복궁→고궁·역사)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926080"/>
            <a:ext cx="10927080" cy="914400"/>
          </a:xfrm>
          <a:prstGeom prst="roundRect">
            <a:avLst>
              <a:gd name="adj" fmla="val 8000"/>
            </a:avLst>
          </a:prstGeom>
          <a:solidFill>
            <a:srgbClr val="F3F6F5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108960"/>
            <a:ext cx="548640" cy="548640"/>
          </a:xfrm>
          <a:prstGeom prst="ellipse">
            <a:avLst/>
          </a:prstGeom>
          <a:solidFill>
            <a:srgbClr val="128C6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00200" y="29718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랭킹 HiddenScore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297680" y="2971800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의미유사도(임베딩) + (1−혼잡) + 접근성(거리) + 정보품질 가중합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10927080" cy="914400"/>
          </a:xfrm>
          <a:prstGeom prst="roundRect">
            <a:avLst>
              <a:gd name="adj" fmla="val 8000"/>
            </a:avLst>
          </a:prstGeom>
          <a:solidFill>
            <a:srgbClr val="F3F6F5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4160520"/>
            <a:ext cx="548640" cy="548640"/>
          </a:xfrm>
          <a:prstGeom prst="ellipse">
            <a:avLst/>
          </a:prstGeom>
          <a:solidFill>
            <a:srgbClr val="128C6A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160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00200" y="40233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자기조절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297680" y="4023360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혼잡 임계(70) 초과 대안은 자동 제외 → 붐비는 대안을 거름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0080" y="5029200"/>
            <a:ext cx="10927080" cy="914400"/>
          </a:xfrm>
          <a:prstGeom prst="roundRect">
            <a:avLst>
              <a:gd name="adj" fmla="val 8000"/>
            </a:avLst>
          </a:prstGeom>
          <a:solidFill>
            <a:srgbClr val="F3F6F5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5212080"/>
            <a:ext cx="548640" cy="548640"/>
          </a:xfrm>
          <a:prstGeom prst="ellipse">
            <a:avLst/>
          </a:prstGeom>
          <a:solidFill>
            <a:srgbClr val="128C6A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212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00200" y="50749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노이즈 정제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297680" y="5074920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0.4km 이내 하위구성물·학교·동상 등 비목적지 제외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7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경복궁(혼잡 66) → 경희궁·창경궁 등 궁궐 대안, 전부 혼잡 45 이하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2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3 · 지역 간 분산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“다른 지역은 어떠세요?”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F3F6F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57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7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근처뿐 아니라 전국에서 ‘비슷한 느낌이지만 다른 지역이라 더 한적한’ 명소를 지역 배지와 함께 추천.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02336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지자체마다 유사 관광지가 늘어나는 흐름을 활용 → 수도권 집중을 지방으로 분산. 시도별 최고 1곳씩 뽑아 지역 다양성 보장.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172200" y="187452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0E5A47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46520" y="2560320"/>
            <a:ext cx="4846320" cy="1280160"/>
          </a:xfrm>
          <a:prstGeom prst="roundRect">
            <a:avLst>
              <a:gd name="adj" fmla="val 5714"/>
            </a:avLst>
          </a:prstGeom>
          <a:solidFill>
            <a:srgbClr val="0B4A3A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26974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거제식물원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315468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C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전북 정읍 허브원 · 경기 서후리숲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46520" y="4023360"/>
            <a:ext cx="4846320" cy="1280160"/>
          </a:xfrm>
          <a:prstGeom prst="roundRect">
            <a:avLst>
              <a:gd name="adj" fmla="val 5714"/>
            </a:avLst>
          </a:prstGeom>
          <a:solidFill>
            <a:srgbClr val="0B4A3A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41605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붐비는 수도권 명소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75120" y="461772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C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비슷한 분위기의 지방 한적 명소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2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4 · #코스 추천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여행 일정 추천 — 가이드북형 다일정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27080" cy="1234440"/>
          </a:xfrm>
          <a:prstGeom prst="roundRect">
            <a:avLst>
              <a:gd name="adj" fmla="val 5926"/>
            </a:avLst>
          </a:prstGeom>
          <a:solidFill>
            <a:srgbClr val="E1F5E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하루 슬롯 구성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09:30 오전 관광  →  12:00 점심  →  14:00 오후 관광  →  15:30 카페  →  17:00 관광·쇼핑  →  18:30 저녁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9184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3F6F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45643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거리 기반 동선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8404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혼잡도 + 직전 장소와의 거리를 함께 점수화해 가까운 순서로 배치(최근접이웃)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72200" y="329184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3F6F5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345643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시군구 다중 선택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38404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구를 골라도 지그재그 없이 자연스러운 동선 · 하루 총거리 표시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70916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3F6F5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87375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날씨 연동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52578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비·폭염 예보일은 실내(문화시설) 우선 배치 (기상청 단기예보)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72200" y="470916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3F6F5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487375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음식 다중 선택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6520" y="52578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한식·일식 등 복수 선택 · 카페/맛집을 소분류 코드(FD05)로 정확히 구분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2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활용 적절성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한국관광공사 OpenAPI가 핵심 경로에 필수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27080" cy="822960"/>
          </a:xfrm>
          <a:prstGeom prst="roundRect">
            <a:avLst>
              <a:gd name="adj" fmla="val 8889"/>
            </a:avLst>
          </a:prstGeom>
          <a:solidFill>
            <a:srgbClr val="F3F6F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국문 관광정보 (TourAPI) · areaBasedList2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126480" y="187452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 마스터 50,674건 — 검색·매칭·코스·일정의 기반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761488"/>
            <a:ext cx="10927080" cy="822960"/>
          </a:xfrm>
          <a:prstGeom prst="roundRect">
            <a:avLst>
              <a:gd name="adj" fmla="val 8889"/>
            </a:avLst>
          </a:prstGeom>
          <a:solidFill>
            <a:srgbClr val="F3F6F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807208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TourAPI · detailCommon2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126480" y="2807208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관광지 상세 설명 ‘이곳에서는’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694176"/>
            <a:ext cx="10927080" cy="822960"/>
          </a:xfrm>
          <a:prstGeom prst="roundRect">
            <a:avLst>
              <a:gd name="adj" fmla="val 8889"/>
            </a:avLst>
          </a:prstGeom>
          <a:solidFill>
            <a:srgbClr val="F3F6F5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739896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TourAPI · ldongCode2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126480" y="3739896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시도·시군구 행정표준코드 — 지역선택·데이터 조인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626864"/>
            <a:ext cx="10927080" cy="822960"/>
          </a:xfrm>
          <a:prstGeom prst="roundRect">
            <a:avLst>
              <a:gd name="adj" fmla="val 8889"/>
            </a:avLst>
          </a:prstGeom>
          <a:solidFill>
            <a:srgbClr val="E1F5EE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672584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집중률 방문자 추이 예측 · tatsCnctrRatedList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126480" y="4672584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전국 7,445곳 × 30일 혼잡 예보 — 혼잡 엔진 1차 소스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5623560"/>
            <a:ext cx="10927080" cy="777240"/>
          </a:xfrm>
          <a:prstGeom prst="roundRect">
            <a:avLst>
              <a:gd name="adj" fmla="val 9412"/>
            </a:avLst>
          </a:prstGeom>
          <a:solidFill>
            <a:srgbClr val="0E5A47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62356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가점 포인트 — 공사 데이터를 소비만 하지 않고 AI로 확장(커버리지 밖 전국 근사). TourAPI 없으면 서비스가 성립하지 않음.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2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구성 · 구현성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3개 엔진으로 동작하는 실서비스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291840" cy="822960"/>
          </a:xfrm>
          <a:prstGeom prst="roundRect">
            <a:avLst>
              <a:gd name="adj" fmla="val 8889"/>
            </a:avLst>
          </a:prstGeom>
          <a:solidFill>
            <a:srgbClr val="0E5A4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프론트엔드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977640" y="19202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0" y="1920240"/>
            <a:ext cx="3291840" cy="822960"/>
          </a:xfrm>
          <a:prstGeom prst="roundRect">
            <a:avLst>
              <a:gd name="adj" fmla="val 8889"/>
            </a:avLst>
          </a:prstGeom>
          <a:solidFill>
            <a:srgbClr val="128C6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19202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백엔드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09560" y="19202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503920" y="1920240"/>
            <a:ext cx="3063240" cy="822960"/>
          </a:xfrm>
          <a:prstGeom prst="roundRect">
            <a:avLst>
              <a:gd name="adj" fmla="val 8889"/>
            </a:avLst>
          </a:prstGeom>
          <a:solidFill>
            <a:srgbClr val="0E5A47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19202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(POI 5만·혼잡 22만행)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10896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3F6F5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291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혼잡 엔진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37490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집중률 API + LightGBM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43400" y="310896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3F6F5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3291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대안 매칭 엔진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0" y="37490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 필터 + 문장 임베딩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46720" y="310896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3F6F5"/>
          </a:solidFill>
          <a:ln/>
        </p:spPr>
      </p:sp>
      <p:sp>
        <p:nvSpPr>
          <p:cNvPr id="19" name="Text 17"/>
          <p:cNvSpPr/>
          <p:nvPr/>
        </p:nvSpPr>
        <p:spPr>
          <a:xfrm>
            <a:off x="8275320" y="3291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코스·일정 엔진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75320" y="37490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거리 최적화 + 슬롯 배치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6634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프론트  </a:t>
            </a:r>
            <a:pPr indent="0" marL="0">
              <a:buNone/>
            </a:pPr>
            <a:r>
              <a:rPr lang="en-US" sz="13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· TypeScript · Tailwind · 카카오맵 SDK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172200" y="46634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  </a:t>
            </a:r>
            <a:pPr indent="0" marL="0">
              <a:buNone/>
            </a:pPr>
            <a:r>
              <a:rPr lang="en-US" sz="13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FastAPI(Python) · REST 8종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0080" y="5376672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</a:t>
            </a:r>
            <a:pPr indent="0" marL="0">
              <a:buNone/>
            </a:pPr>
            <a:r>
              <a:rPr lang="en-US" sz="13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· 문장 임베딩 · (선택)LLM 문장화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172200" y="5376672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 </a:t>
            </a:r>
            <a:pPr indent="0" marL="0">
              <a:buNone/>
            </a:pPr>
            <a:r>
              <a:rPr lang="en-US" sz="13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10건 통과 · 프론트 빌드 통과 · 실배포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2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기준 자기 점검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1차 심사 100점 대응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항목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1828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배점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우리의 대응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10927080" cy="822960"/>
          </a:xfrm>
          <a:prstGeom prst="roundRect">
            <a:avLst>
              <a:gd name="adj" fmla="val 8889"/>
            </a:avLst>
          </a:prstGeom>
          <a:solidFill>
            <a:srgbClr val="F3F6F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860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구현성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566160" y="22860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C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30점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0" y="228600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접속 즉시 동작 · 크래시 0 · 해시태그 4기능 완결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0378440" y="24688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128C6A"/>
          </a:solidFill>
          <a:ln/>
        </p:spPr>
      </p:sp>
      <p:sp>
        <p:nvSpPr>
          <p:cNvPr id="12" name="Text 10"/>
          <p:cNvSpPr/>
          <p:nvPr/>
        </p:nvSpPr>
        <p:spPr>
          <a:xfrm>
            <a:off x="10378440" y="24688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172968"/>
            <a:ext cx="10927080" cy="822960"/>
          </a:xfrm>
          <a:prstGeom prst="roundRect">
            <a:avLst>
              <a:gd name="adj" fmla="val 8889"/>
            </a:avLst>
          </a:prstGeom>
          <a:solidFill>
            <a:srgbClr val="F3F6F5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218688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기획력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566160" y="3218688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C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30점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0" y="3218688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취향 유지+혼잡 제거 독창성 · 3중 손실 정량 근거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0378440" y="3401568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128C6A"/>
          </a:solidFill>
          <a:ln/>
        </p:spPr>
      </p:sp>
      <p:sp>
        <p:nvSpPr>
          <p:cNvPr id="18" name="Text 16"/>
          <p:cNvSpPr/>
          <p:nvPr/>
        </p:nvSpPr>
        <p:spPr>
          <a:xfrm>
            <a:off x="10378440" y="340156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강점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105656"/>
            <a:ext cx="10927080" cy="822960"/>
          </a:xfrm>
          <a:prstGeom prst="roundRect">
            <a:avLst>
              <a:gd name="adj" fmla="val 8889"/>
            </a:avLst>
          </a:prstGeom>
          <a:solidFill>
            <a:srgbClr val="F3F6F5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151376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활용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3566160" y="4151376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C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20점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72000" y="4151376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공사 API 4종 핵심경로 + AI로 전국 확장(가점)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10378440" y="4334256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128C6A"/>
          </a:solidFill>
          <a:ln/>
        </p:spPr>
      </p:sp>
      <p:sp>
        <p:nvSpPr>
          <p:cNvPr id="24" name="Text 22"/>
          <p:cNvSpPr/>
          <p:nvPr/>
        </p:nvSpPr>
        <p:spPr>
          <a:xfrm>
            <a:off x="10378440" y="4334256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강점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038344"/>
            <a:ext cx="10927080" cy="822960"/>
          </a:xfrm>
          <a:prstGeom prst="roundRect">
            <a:avLst>
              <a:gd name="adj" fmla="val 8889"/>
            </a:avLst>
          </a:prstGeom>
          <a:solidFill>
            <a:srgbClr val="F3F6F5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5084064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발전성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3566160" y="5084064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C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20점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572000" y="5084064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2만원 이하 운영 · 다국어·지자체 B2B 로드맵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10378440" y="5266944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E1F5EE"/>
          </a:solidFill>
          <a:ln/>
        </p:spPr>
      </p:sp>
      <p:sp>
        <p:nvSpPr>
          <p:cNvPr id="30" name="Text 28"/>
          <p:cNvSpPr/>
          <p:nvPr/>
        </p:nvSpPr>
        <p:spPr>
          <a:xfrm>
            <a:off x="10378440" y="5266944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보통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5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붐비는 곳 말고, 숨은 한국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77240" y="3108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D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수요를 지우지 않고 옮긴다 — 여행자 경험 개선과 저평가 지역 활성화를 동시에.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3931920"/>
            <a:ext cx="3383280" cy="1188720"/>
          </a:xfrm>
          <a:prstGeom prst="roundRect">
            <a:avLst>
              <a:gd name="adj" fmla="val 6154"/>
            </a:avLst>
          </a:prstGeom>
          <a:solidFill>
            <a:srgbClr val="0B4A3A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4069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44348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 배포 유지 · 실사용 베타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43400" y="3931920"/>
            <a:ext cx="3383280" cy="1188720"/>
          </a:xfrm>
          <a:prstGeom prst="roundRect">
            <a:avLst>
              <a:gd name="adj" fmla="val 6154"/>
            </a:avLst>
          </a:prstGeom>
          <a:solidFill>
            <a:srgbClr val="0B4A3A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4069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17720" y="44348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다국어(방한객 분산)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955280" y="3931920"/>
            <a:ext cx="3383280" cy="1188720"/>
          </a:xfrm>
          <a:prstGeom prst="roundRect">
            <a:avLst>
              <a:gd name="adj" fmla="val 6154"/>
            </a:avLst>
          </a:prstGeom>
          <a:solidFill>
            <a:srgbClr val="0B4A3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0" y="4069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0" y="44348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지자체 B2B 분산 리포트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77240" y="5577840"/>
            <a:ext cx="4572000" cy="0"/>
          </a:xfrm>
          <a:prstGeom prst="line">
            <a:avLst/>
          </a:prstGeom>
          <a:noFill/>
          <a:ln w="25400">
            <a:solidFill>
              <a:srgbClr val="E091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5760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접속해 보세요  </a:t>
            </a:r>
            <a:pPr indent="0" marL="0">
              <a:buNone/>
            </a:pPr>
            <a:r>
              <a:rPr lang="en-US" sz="2000" b="1" dirty="0">
                <a:solidFill>
                  <a:srgbClr val="E0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hiddenkorea.vercel.app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2026-07-14T14:39:49Z</dcterms:created>
  <dcterms:modified xsi:type="dcterms:W3CDTF">2026-07-14T14:39:49Z</dcterms:modified>
</cp:coreProperties>
</file>